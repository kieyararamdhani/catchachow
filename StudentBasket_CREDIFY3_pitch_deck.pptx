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69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058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D7F36A"/>
                </a:solidFill>
                <a:latin typeface="Aptos"/>
              </a:defRPr>
            </a:pPr>
            <a:r>
              <a:t>CREDIFY3 · SYSTEM THINKING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05840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Aptos Display"/>
              </a:defRPr>
            </a:pPr>
            <a:r>
              <a:t>StudentBasket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14600"/>
            <a:ext cx="914400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D7F36A"/>
                </a:solidFill>
                <a:latin typeface="Aptos"/>
              </a:defRPr>
            </a:pPr>
            <a:r>
              <a:t>Honest affordability, not just cheap recipes.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14400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100" b="0">
                <a:solidFill>
                  <a:srgbClr val="FFFFFF"/>
                </a:solidFill>
                <a:latin typeface="Aptos"/>
              </a:defRPr>
            </a:pPr>
            <a:r>
              <a:t>A budget-first meal planning prototype for people trying to save on food in South Africa.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080760"/>
            <a:ext cx="100584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ptos"/>
              </a:defRPr>
            </a:pPr>
            <a:r>
              <a:t>Challenge area: Access to Essential Services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1C6949"/>
                </a:solidFill>
                <a:latin typeface="Aptos"/>
              </a:defRPr>
            </a:pPr>
            <a:r>
              <a:t>01 ·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20231F"/>
                </a:solidFill>
                <a:latin typeface="Aptos Display"/>
              </a:defRPr>
            </a:pPr>
            <a:r>
              <a:t>Affordable meal planning is a connected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8813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687067"/>
                </a:solidFill>
                <a:latin typeface="Aptos"/>
              </a:defRPr>
            </a:pPr>
            <a:r>
              <a:t>Problem hypothesis to validate through interviews and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1">
                <a:solidFill>
                  <a:srgbClr val="68706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69848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20231F"/>
                </a:solidFill>
                <a:latin typeface="Aptos"/>
              </a:defRPr>
            </a:pPr>
            <a:r>
              <a:t>•  People must coordinate budgets, recipes, pantry stock, package sizes and retailer prices.</a:t>
            </a:r>
          </a:p>
          <a:p>
            <a:pPr>
              <a:spcAft>
                <a:spcPts val="1600"/>
              </a:spcAft>
              <a:defRPr sz="1900">
                <a:solidFill>
                  <a:srgbClr val="20231F"/>
                </a:solidFill>
                <a:latin typeface="Aptos"/>
              </a:defRPr>
            </a:pPr>
            <a:r>
              <a:t>•  A low recipe cost can hide a high checkout cost when full packages must be purchased.</a:t>
            </a:r>
          </a:p>
          <a:p>
            <a:pPr>
              <a:spcAft>
                <a:spcPts val="1600"/>
              </a:spcAft>
              <a:defRPr sz="1900">
                <a:solidFill>
                  <a:srgbClr val="20231F"/>
                </a:solidFill>
                <a:latin typeface="Aptos"/>
              </a:defRPr>
            </a:pPr>
            <a:r>
              <a:t>•  Transport, storage, time and cooking equipment can change what is practical.</a:t>
            </a:r>
          </a:p>
          <a:p>
            <a:pPr>
              <a:spcAft>
                <a:spcPts val="1600"/>
              </a:spcAft>
              <a:defRPr sz="1900">
                <a:solidFill>
                  <a:srgbClr val="20231F"/>
                </a:solidFill>
                <a:latin typeface="Aptos"/>
              </a:defRPr>
            </a:pPr>
            <a:r>
              <a:t>•  Price-only optimisation can lead to repetitive or nutritionally inadequate plans.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1C6949"/>
                </a:solidFill>
                <a:latin typeface="Aptos"/>
              </a:defRPr>
            </a:pPr>
            <a:r>
              <a:t>02 ·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20231F"/>
                </a:solidFill>
                <a:latin typeface="Aptos Display"/>
              </a:defRPr>
            </a:pPr>
            <a:r>
              <a:t>Many stakeholders shape the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1">
                <a:solidFill>
                  <a:srgbClr val="68706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6060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3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975104"/>
            <a:ext cx="2276856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C6949"/>
                </a:solidFill>
                <a:latin typeface="Aptos"/>
              </a:defRPr>
            </a:pPr>
            <a:r>
              <a:t>Shoppers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395728"/>
            <a:ext cx="2276856" cy="1399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0231F"/>
                </a:solidFill>
                <a:latin typeface="Aptos"/>
              </a:defRPr>
            </a:pPr>
            <a:r>
              <a:t>Budget, preferences, household size, pantry stock and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6060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3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975104"/>
            <a:ext cx="2276856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C6949"/>
                </a:solidFill>
                <a:latin typeface="Aptos"/>
              </a:defRPr>
            </a:pPr>
            <a:r>
              <a:t>Retailers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395728"/>
            <a:ext cx="2276856" cy="1399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0231F"/>
                </a:solidFill>
                <a:latin typeface="Aptos"/>
              </a:defRPr>
            </a:pPr>
            <a:r>
              <a:t>Prices, pack sizes, promotions, availability and location.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828800"/>
            <a:ext cx="26060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3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975104"/>
            <a:ext cx="2276856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C6949"/>
                </a:solidFill>
                <a:latin typeface="Aptos"/>
              </a:defRPr>
            </a:pPr>
            <a:r>
              <a:t>Listing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395728"/>
            <a:ext cx="2276856" cy="1399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0231F"/>
                </a:solidFill>
                <a:latin typeface="Aptos"/>
              </a:defRPr>
            </a:pPr>
            <a:r>
              <a:t>Product matching, freshness of data and source transparency.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828800"/>
            <a:ext cx="23774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3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08592" y="1975104"/>
            <a:ext cx="2048256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C6949"/>
                </a:solidFill>
                <a:latin typeface="Aptos"/>
              </a:defRPr>
            </a:pPr>
            <a:r>
              <a:t>Food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08592" y="2395728"/>
            <a:ext cx="2048256" cy="1399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0231F"/>
                </a:solidFill>
                <a:latin typeface="Aptos"/>
              </a:defRPr>
            </a:pPr>
            <a:r>
              <a:t>Community services and nutrition expertise.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17720"/>
            <a:ext cx="1051560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000" b="1">
                <a:solidFill>
                  <a:srgbClr val="1C6949"/>
                </a:solidFill>
                <a:latin typeface="Aptos"/>
              </a:defRPr>
            </a:pPr>
            <a:r>
              <a:t>Key relationships: cash flow ↔ pack sizes · price ↔ transport · storage ↔ waste · convenience ↔ cost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1C6949"/>
                </a:solidFill>
                <a:latin typeface="Aptos"/>
              </a:defRPr>
            </a:pPr>
            <a:r>
              <a:t>03 · ROOT CAUSES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20231F"/>
                </a:solidFill>
                <a:latin typeface="Aptos Display"/>
              </a:defRPr>
            </a:pPr>
            <a:r>
              <a:t>The visible problem is not the whole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1">
                <a:solidFill>
                  <a:srgbClr val="68706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3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75104"/>
            <a:ext cx="3054096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C6949"/>
                </a:solidFill>
                <a:latin typeface="Aptos"/>
              </a:defRPr>
            </a:pPr>
            <a:r>
              <a:t>Cash constraints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95728"/>
            <a:ext cx="3054096" cy="7589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0231F"/>
                </a:solidFill>
                <a:latin typeface="Aptos"/>
              </a:defRPr>
            </a:pPr>
            <a:r>
              <a:t>Limited money available at checkout.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3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975104"/>
            <a:ext cx="3054096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C6949"/>
                </a:solidFill>
                <a:latin typeface="Aptos"/>
              </a:defRPr>
            </a:pPr>
            <a:r>
              <a:t>Information gaps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395728"/>
            <a:ext cx="3054096" cy="7589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0231F"/>
                </a:solidFill>
                <a:latin typeface="Aptos"/>
              </a:defRPr>
            </a:pPr>
            <a:r>
              <a:t>Prices can be stale, regional or promotion-specific.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3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975104"/>
            <a:ext cx="3054096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C6949"/>
                </a:solidFill>
                <a:latin typeface="Aptos"/>
              </a:defRPr>
            </a:pPr>
            <a:r>
              <a:t>Practical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2395728"/>
            <a:ext cx="3054096" cy="7589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0231F"/>
                </a:solidFill>
                <a:latin typeface="Aptos"/>
              </a:defRPr>
            </a:pPr>
            <a:r>
              <a:t>Storage, equipment, travel and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40480"/>
            <a:ext cx="1033272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200" b="1">
                <a:solidFill>
                  <a:srgbClr val="20231F"/>
                </a:solidFill>
                <a:latin typeface="Aptos"/>
              </a:defRPr>
            </a:pPr>
            <a:r>
              <a:t>Potential outcome: unplanned spending, ingredient waste and meals that do not fit the real budget.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687067"/>
                </a:solidFill>
                <a:latin typeface="Aptos"/>
              </a:defRPr>
            </a:pPr>
            <a:r>
              <a:t>These are hypotheses. User research must establish which relationships matter most.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1C6949"/>
                </a:solidFill>
                <a:latin typeface="Aptos"/>
              </a:defRPr>
            </a:pPr>
            <a:r>
              <a:t>04 ·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20231F"/>
                </a:solidFill>
                <a:latin typeface="Aptos Display"/>
              </a:defRPr>
            </a:pPr>
            <a:r>
              <a:t>Recipe cost is not checkout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1">
                <a:solidFill>
                  <a:srgbClr val="68706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0292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3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975104"/>
            <a:ext cx="4700016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C6949"/>
                </a:solidFill>
                <a:latin typeface="Aptos"/>
              </a:defRPr>
            </a:pPr>
            <a:r>
              <a:t>Allocated ingredient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395728"/>
            <a:ext cx="4700016" cy="16276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0231F"/>
                </a:solidFill>
                <a:latin typeface="Aptos"/>
              </a:defRPr>
            </a:pPr>
            <a:r>
              <a:t>300 g used from a 2 kg rice package priced at R29.99 ≈ R4.50 of rice consumed.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828800"/>
            <a:ext cx="50292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3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975104"/>
            <a:ext cx="4700016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8A5B0A"/>
                </a:solidFill>
                <a:latin typeface="Aptos"/>
              </a:defRPr>
            </a:pPr>
            <a:r>
              <a:t>Checkout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395728"/>
            <a:ext cx="4700016" cy="16276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0231F"/>
                </a:solidFill>
                <a:latin typeface="Aptos"/>
              </a:defRPr>
            </a:pPr>
            <a:r>
              <a:t>If no rice is at home, the shopper still needs to pay R29.99 for the full package.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92040"/>
            <a:ext cx="1024128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900" b="1">
                <a:solidFill>
                  <a:srgbClr val="20231F"/>
                </a:solidFill>
                <a:latin typeface="Aptos"/>
              </a:defRPr>
            </a:pPr>
            <a:r>
              <a:t>StudentBasket tracks package leftovers across meals and avoids counting the same package twice.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1C6949"/>
                </a:solidFill>
                <a:latin typeface="Aptos"/>
              </a:defRPr>
            </a:pPr>
            <a:r>
              <a:t>05 · INTERVENTION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20231F"/>
                </a:solidFill>
                <a:latin typeface="Aptos Display"/>
              </a:defRPr>
            </a:pPr>
            <a:r>
              <a:t>StudentBasket + Budget Rescue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8813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687067"/>
                </a:solidFill>
                <a:latin typeface="Aptos"/>
              </a:defRPr>
            </a:pPr>
            <a:r>
              <a:t>One flow: budget → pantry → meal plan → whole-package basket → adjustment.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1">
                <a:solidFill>
                  <a:srgbClr val="687067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1069848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20231F"/>
                </a:solidFill>
                <a:latin typeface="Aptos"/>
              </a:defRPr>
            </a:pPr>
            <a:r>
              <a:t>•  Set daily, weekly or monthly budget and number of people.</a:t>
            </a:r>
          </a:p>
          <a:p>
            <a:pPr>
              <a:spcAft>
                <a:spcPts val="1600"/>
              </a:spcAft>
              <a:defRPr sz="1800">
                <a:solidFill>
                  <a:srgbClr val="20231F"/>
                </a:solidFill>
                <a:latin typeface="Aptos"/>
              </a:defRPr>
            </a:pPr>
            <a:r>
              <a:t>•  Enter pantry items, preferences and cooking equipment.</a:t>
            </a:r>
          </a:p>
          <a:p>
            <a:pPr>
              <a:spcAft>
                <a:spcPts val="1600"/>
              </a:spcAft>
              <a:defRPr sz="1800">
                <a:solidFill>
                  <a:srgbClr val="20231F"/>
                </a:solidFill>
                <a:latin typeface="Aptos"/>
              </a:defRPr>
            </a:pPr>
            <a:r>
              <a:t>•  Suggest recipes and aggregate ingredients across meals.</a:t>
            </a:r>
          </a:p>
          <a:p>
            <a:pPr>
              <a:spcAft>
                <a:spcPts val="1600"/>
              </a:spcAft>
              <a:defRPr sz="1800">
                <a:solidFill>
                  <a:srgbClr val="20231F"/>
                </a:solidFill>
                <a:latin typeface="Aptos"/>
              </a:defRPr>
            </a:pPr>
            <a:r>
              <a:t>•  Compare listed products and calculate full checkout cost.</a:t>
            </a:r>
          </a:p>
          <a:p>
            <a:pPr>
              <a:spcAft>
                <a:spcPts val="1600"/>
              </a:spcAft>
              <a:defRPr sz="1800">
                <a:solidFill>
                  <a:srgbClr val="20231F"/>
                </a:solidFill>
                <a:latin typeface="Aptos"/>
              </a:defRPr>
            </a:pPr>
            <a:r>
              <a:t>•  If over budget, suggest substitutions and ingredient reuse.</a:t>
            </a:r>
          </a:p>
          <a:p>
            <a:pPr>
              <a:spcAft>
                <a:spcPts val="1600"/>
              </a:spcAft>
              <a:defRPr sz="1800">
                <a:solidFill>
                  <a:srgbClr val="20231F"/>
                </a:solidFill>
                <a:latin typeface="Aptos"/>
              </a:defRPr>
            </a:pPr>
            <a:r>
              <a:t>•  Flag when price fit is not enough to establish nutritional adequacy.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1C6949"/>
                </a:solidFill>
                <a:latin typeface="Aptos"/>
              </a:defRPr>
            </a:pPr>
            <a:r>
              <a:t>06 · PROTOTYPE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20231F"/>
                </a:solidFill>
                <a:latin typeface="Aptos Display"/>
              </a:defRPr>
            </a:pPr>
            <a:r>
              <a:t>R80 · one week · two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1088136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687067"/>
                </a:solidFill>
                <a:latin typeface="Aptos"/>
              </a:defRPr>
            </a:pPr>
            <a:r>
              <a:t>Seed listing prices; three products selected for the arithmetic demonstration.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1">
                <a:solidFill>
                  <a:srgbClr val="687067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3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75104"/>
            <a:ext cx="3099816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C6949"/>
                </a:solidFill>
                <a:latin typeface="Aptos"/>
              </a:defRPr>
            </a:pPr>
            <a:r>
              <a:t>Rice · Checkers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95728"/>
            <a:ext cx="3099816" cy="11704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0231F"/>
                </a:solidFill>
                <a:latin typeface="Aptos"/>
              </a:defRPr>
            </a:pPr>
            <a:r>
              <a:t>2 kg package — R29.99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3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975104"/>
            <a:ext cx="3099816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C6949"/>
                </a:solidFill>
                <a:latin typeface="Aptos"/>
              </a:defRPr>
            </a:pPr>
            <a:r>
              <a:t>Potatoes · Shoprite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395728"/>
            <a:ext cx="3099816" cy="11704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0231F"/>
                </a:solidFill>
                <a:latin typeface="Aptos"/>
              </a:defRPr>
            </a:pPr>
            <a:r>
              <a:t>2 kg package — R29.99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3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1312" y="1975104"/>
            <a:ext cx="3099816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C6949"/>
                </a:solidFill>
                <a:latin typeface="Aptos"/>
              </a:defRPr>
            </a:pPr>
            <a:r>
              <a:t>Baked beans · Makro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395728"/>
            <a:ext cx="3099816" cy="11704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0231F"/>
                </a:solidFill>
                <a:latin typeface="Aptos"/>
              </a:defRPr>
            </a:pPr>
            <a:r>
              <a:t>400 g package — R16.95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97680"/>
            <a:ext cx="502920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600" b="1">
                <a:solidFill>
                  <a:srgbClr val="1C6949"/>
                </a:solidFill>
                <a:latin typeface="Aptos"/>
              </a:defRPr>
            </a:pPr>
            <a:r>
              <a:t>Basket total: R76.93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4297680"/>
            <a:ext cx="5029200" cy="594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600" b="1">
                <a:solidFill>
                  <a:srgbClr val="8A5B0A"/>
                </a:solidFill>
                <a:latin typeface="Aptos"/>
              </a:defRPr>
            </a:pPr>
            <a:r>
              <a:t>Remaining: R3.07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57800"/>
            <a:ext cx="1033272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700" b="1">
                <a:solidFill>
                  <a:srgbClr val="20231F"/>
                </a:solidFill>
                <a:latin typeface="Aptos"/>
              </a:defRPr>
            </a:pPr>
            <a:r>
              <a:t>Result: arithmetic fits, but the ingredients do not establish a balanced seven-day meal plan for two people.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1C6949"/>
                </a:solidFill>
                <a:latin typeface="Aptos"/>
              </a:defRPr>
            </a:pPr>
            <a:r>
              <a:t>07 ·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20231F"/>
                </a:solidFill>
                <a:latin typeface="Aptos Display"/>
              </a:defRPr>
            </a:pPr>
            <a:r>
              <a:t>Test the assumptions, not just the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1">
                <a:solidFill>
                  <a:srgbClr val="687067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1069848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20231F"/>
                </a:solidFill>
                <a:latin typeface="Aptos"/>
              </a:defRPr>
            </a:pPr>
            <a:r>
              <a:t>•  Seed data stores source URL, package size, retailer and date checked.</a:t>
            </a:r>
          </a:p>
          <a:p>
            <a:pPr>
              <a:spcAft>
                <a:spcPts val="1600"/>
              </a:spcAft>
              <a:defRPr sz="1800">
                <a:solidFill>
                  <a:srgbClr val="20231F"/>
                </a:solidFill>
                <a:latin typeface="Aptos"/>
              </a:defRPr>
            </a:pPr>
            <a:r>
              <a:t>•  Recheck each listing for the chosen area before claiming current price.</a:t>
            </a:r>
          </a:p>
          <a:p>
            <a:pPr>
              <a:spcAft>
                <a:spcPts val="1600"/>
              </a:spcAft>
              <a:defRPr sz="1800">
                <a:solidFill>
                  <a:srgbClr val="20231F"/>
                </a:solidFill>
                <a:latin typeface="Aptos"/>
              </a:defRPr>
            </a:pPr>
            <a:r>
              <a:t>•  Interview 5–10 potential users about budgeting, storage and shopping constraints.</a:t>
            </a:r>
          </a:p>
          <a:p>
            <a:pPr>
              <a:spcAft>
                <a:spcPts val="1600"/>
              </a:spcAft>
              <a:defRPr sz="1800">
                <a:solidFill>
                  <a:srgbClr val="20231F"/>
                </a:solidFill>
                <a:latin typeface="Aptos"/>
              </a:defRPr>
            </a:pPr>
            <a:r>
              <a:t>•  Measure budget fit, planning time, price accuracy, ingredient reuse and user comprehension.</a:t>
            </a:r>
          </a:p>
          <a:p>
            <a:pPr>
              <a:spcAft>
                <a:spcPts val="1600"/>
              </a:spcAft>
              <a:defRPr sz="1800">
                <a:solidFill>
                  <a:srgbClr val="20231F"/>
                </a:solidFill>
                <a:latin typeface="Aptos"/>
              </a:defRPr>
            </a:pPr>
            <a:r>
              <a:t>•  No measured savings or nutrition improvement is claimed yet.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000" b="1">
                <a:solidFill>
                  <a:srgbClr val="1C6949"/>
                </a:solidFill>
                <a:latin typeface="Aptos"/>
              </a:defRPr>
            </a:pPr>
            <a:r>
              <a:t>08 · FEASIBILITY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20231F"/>
                </a:solidFill>
                <a:latin typeface="Aptos Display"/>
              </a:defRPr>
            </a:pPr>
            <a:r>
              <a:t>Build a credible prototype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73952"/>
            <a:ext cx="5486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00" b="1">
                <a:solidFill>
                  <a:srgbClr val="687067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3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75104"/>
            <a:ext cx="3054096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C6949"/>
                </a:solidFill>
                <a:latin typeface="Aptos"/>
              </a:defRPr>
            </a:pPr>
            <a: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95728"/>
            <a:ext cx="3054096" cy="1353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0231F"/>
                </a:solidFill>
                <a:latin typeface="Aptos"/>
              </a:defRPr>
            </a:pPr>
            <a:r>
              <a:t>Vanilla HTML, CSS, JavaScript and static JSON. No backend/API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3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975104"/>
            <a:ext cx="3054096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8A5B0A"/>
                </a:solidFill>
                <a:latin typeface="Aptos"/>
              </a:defRPr>
            </a:pPr>
            <a:r>
              <a:t>Main risks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395728"/>
            <a:ext cx="3054096" cy="1353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0231F"/>
                </a:solidFill>
                <a:latin typeface="Aptos"/>
              </a:defRPr>
            </a:pPr>
            <a:r>
              <a:t>Stale prices, incomplete catalogue, transport cost and nutrition assumptions.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3832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3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975104"/>
            <a:ext cx="3054096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1">
                <a:solidFill>
                  <a:srgbClr val="1C6949"/>
                </a:solidFill>
                <a:latin typeface="Aptos"/>
              </a:defRPr>
            </a:pPr>
            <a:r>
              <a:t>Mitigations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2395728"/>
            <a:ext cx="3054096" cy="13533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20231F"/>
                </a:solidFill>
                <a:latin typeface="Aptos"/>
              </a:defRPr>
            </a:pPr>
            <a:r>
              <a:t>Show sources/dates, label limitations, use deterministic arithmetic and flag uncertainty.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17720"/>
            <a:ext cx="1024128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31F"/>
                </a:solidFill>
                <a:latin typeface="Aptos"/>
              </a:defRPr>
            </a:pPr>
            <a:r>
              <a:t>Future work: verified retailer feeds, nutrition data, location-aware travel costs and expanded testing.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69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100" b="1">
                <a:solidFill>
                  <a:srgbClr val="D7F36A"/>
                </a:solidFill>
                <a:latin typeface="Aptos"/>
              </a:defRPr>
            </a:pPr>
            <a:r>
              <a:t>09 · IMPACT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60704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Success means better decisions—not just a lower number.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1024128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Measure the share of plans within budget and with credible adequacy checks.</a:t>
            </a:r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Track price-source accuracy and time needed to make a plan.</a:t>
            </a:r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Expand product/recipe coverage and validate with users.</a:t>
            </a:r>
          </a:p>
          <a:p>
            <a:pPr>
              <a:spcAft>
                <a:spcPts val="16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Disclose limitations and individual contribution honestly.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15000"/>
            <a:ext cx="1024128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100" b="1">
                <a:solidFill>
                  <a:srgbClr val="D7F36A"/>
                </a:solidFill>
                <a:latin typeface="Aptos"/>
              </a:defRPr>
            </a:pPr>
            <a:r>
              <a:t>StudentBasket: honest affordability, not just cheap recipes.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